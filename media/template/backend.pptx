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41E2B-431F-D999-33AC-B82BDF93BCD4}" v="10" dt="2023-11-11T05:25:26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57" autoAdjust="0"/>
  </p:normalViewPr>
  <p:slideViewPr>
    <p:cSldViewPr snapToGrid="0">
      <p:cViewPr varScale="1">
        <p:scale>
          <a:sx n="159" d="100"/>
          <a:sy n="159" d="100"/>
        </p:scale>
        <p:origin x="720" y="176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C8DE7F0-958D-6AAF-3961-EAAE8D244DF1}"/>
              </a:ext>
            </a:extLst>
          </p:cNvPr>
          <p:cNvSpPr txBox="1"/>
          <p:nvPr/>
        </p:nvSpPr>
        <p:spPr>
          <a:xfrm>
            <a:off x="3518413" y="209310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3088008" y="563253"/>
            <a:ext cx="3183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Gilroy" panose="00000500000000000000" pitchFamily="2" charset="-52"/>
              </a:rPr>
              <a:t>ASTRUM IT ACADEMY</a:t>
            </a:r>
            <a:endParaRPr lang="ru-RU" sz="2400" b="1" dirty="0">
              <a:latin typeface="Gilroy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732827" y="1071084"/>
            <a:ext cx="5894241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6600" b="1" spc="990" dirty="0">
                <a:solidFill>
                  <a:srgbClr val="5430CE"/>
                </a:solidFill>
                <a:latin typeface="Gilroy-Black"/>
              </a:rPr>
              <a:t>CERTIFICATE</a:t>
            </a:r>
            <a:endParaRPr lang="ru-RU" sz="6600" b="1" spc="990">
              <a:solidFill>
                <a:srgbClr val="5430CE"/>
              </a:solidFill>
              <a:latin typeface="Gilroy-Blac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0FBDC41-E2C0-D7A9-5C61-87B0CC08AFD2}"/>
              </a:ext>
            </a:extLst>
          </p:cNvPr>
          <p:cNvSpPr/>
          <p:nvPr/>
        </p:nvSpPr>
        <p:spPr>
          <a:xfrm>
            <a:off x="2007162" y="4944356"/>
            <a:ext cx="5345575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ADF1E1-F828-F2CC-D1CE-8E6A84BF917B}"/>
              </a:ext>
            </a:extLst>
          </p:cNvPr>
          <p:cNvSpPr txBox="1"/>
          <p:nvPr/>
        </p:nvSpPr>
        <p:spPr>
          <a:xfrm>
            <a:off x="3403799" y="4979993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83" y="3096763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403490" y="3443478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Ushbu sertifikat bitiruvchiga quyidagi yo‘nalish bo‘yicha</a:t>
            </a:r>
            <a:r>
              <a:rPr lang="en-US" sz="1000" b="1" spc="100" dirty="0">
                <a:latin typeface="Gilroy" panose="00000500000000000000" pitchFamily="2" charset="-52"/>
              </a:rPr>
              <a:t> </a:t>
            </a:r>
            <a:r>
              <a:rPr lang="uz-Cyrl-UZ" sz="1000" b="1" spc="100" dirty="0">
                <a:latin typeface="Gilroy" panose="00000500000000000000" pitchFamily="2" charset="-52"/>
              </a:rPr>
              <a:t>dasturlash o‘quv kursini</a:t>
            </a:r>
          </a:p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is awarded to the recipient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the programming course in the following track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EB536E-D505-E3C2-0643-E227793FCEBF}"/>
              </a:ext>
            </a:extLst>
          </p:cNvPr>
          <p:cNvSpPr txBox="1"/>
          <p:nvPr/>
        </p:nvSpPr>
        <p:spPr>
          <a:xfrm>
            <a:off x="2007160" y="4421136"/>
            <a:ext cx="53455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5430CE"/>
                </a:solidFill>
                <a:latin typeface="Gilroy-Black"/>
              </a:rPr>
              <a:t>BACKEND DEVELOPER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473317" y="542673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041011" y="5426729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534344" y="5426728"/>
            <a:ext cx="1369287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region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C2104-F4B9-845B-8468-AB53605DDAC0}"/>
              </a:ext>
            </a:extLst>
          </p:cNvPr>
          <p:cNvSpPr txBox="1"/>
          <p:nvPr/>
        </p:nvSpPr>
        <p:spPr>
          <a:xfrm>
            <a:off x="403485" y="4197531"/>
            <a:ext cx="1185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ijro.gov.uz</a:t>
            </a:r>
            <a:endParaRPr kumimoji="0" lang="uz-Cyrl-UZ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0" y="0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D59EFC3B-9EE5-FD0F-709F-45679C14C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1615" y="229216"/>
              <a:ext cx="1486398" cy="440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78" y="1446168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249701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2468030" y="1763791"/>
            <a:ext cx="442384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Black"/>
              </a:rPr>
              <a:t>« </a:t>
            </a:r>
            <a:r>
              <a:rPr lang="en-US" sz="3200" b="1" dirty="0">
                <a:solidFill>
                  <a:srgbClr val="5430CE"/>
                </a:solidFill>
                <a:latin typeface="Gilroy-Black"/>
              </a:rPr>
              <a:t>Qwasar Silicon Valley</a:t>
            </a:r>
            <a:r>
              <a:rPr lang="ru-RU" sz="3200" b="1" dirty="0">
                <a:solidFill>
                  <a:srgbClr val="5430CE"/>
                </a:solidFill>
                <a:latin typeface="Gilroy-Black"/>
              </a:rPr>
              <a:t> »</a:t>
            </a:r>
            <a:endParaRPr lang="ru-RU" sz="2800" b="1" dirty="0">
              <a:solidFill>
                <a:srgbClr val="5430CE"/>
              </a:solidFill>
              <a:latin typeface="Gilroy-Blac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68BAB2-AF90-09F0-9D47-FBD399DD56D5}"/>
              </a:ext>
            </a:extLst>
          </p:cNvPr>
          <p:cNvSpPr txBox="1"/>
          <p:nvPr/>
        </p:nvSpPr>
        <p:spPr>
          <a:xfrm>
            <a:off x="1186045" y="2346083"/>
            <a:ext cx="6987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2600">
              <a:defRPr/>
            </a:pPr>
            <a:r>
              <a:rPr lang="uz-Cyrl-UZ" sz="900" dirty="0">
                <a:latin typeface="Gilroy" panose="00000500000000000000" pitchFamily="2" charset="-52"/>
              </a:rPr>
              <a:t>AQSh, Kaliforniya, Silikon vodiysi standartlari asosida ishlab chiqilgan dasturiy ta'minot muhandisligi maktabi o’quv platformasi / </a:t>
            </a:r>
          </a:p>
          <a:p>
            <a:pPr algn="ctr" defTabSz="452600">
              <a:defRPr/>
            </a:pPr>
            <a:r>
              <a:rPr lang="en-US" sz="900" dirty="0">
                <a:latin typeface="Gilroy" panose="00000500000000000000" pitchFamily="2" charset="-52"/>
              </a:rPr>
              <a:t>A US-based software engineering school in California, Silicon Valley, operating on standard educational platforms</a:t>
            </a:r>
            <a:endParaRPr lang="uz-Cyrl-UZ" sz="900" dirty="0">
              <a:latin typeface="Gilroy" panose="000005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90" y="2775628"/>
            <a:ext cx="855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B</a:t>
            </a:r>
            <a:r>
              <a:rPr lang="uz-Cyrl-UZ" sz="1200" b="1" spc="100" dirty="0">
                <a:latin typeface="Gilroy" panose="00000500000000000000" pitchFamily="2" charset="-52"/>
              </a:rPr>
              <a:t>itiruvchi</a:t>
            </a:r>
            <a:r>
              <a:rPr lang="en-US" sz="1200" b="1" spc="100" dirty="0">
                <a:latin typeface="Gilroy" panose="00000500000000000000" pitchFamily="2" charset="-52"/>
              </a:rPr>
              <a:t> ushbu o‘quv platformasida 13 oy davomida quyidagi bosqichlarni tamomladi 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graduate completed the following steps during the 13 months on this learning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D05C0-D0AD-DCBB-C5F0-53C3269945D8}"/>
              </a:ext>
            </a:extLst>
          </p:cNvPr>
          <p:cNvSpPr txBox="1"/>
          <p:nvPr/>
        </p:nvSpPr>
        <p:spPr>
          <a:xfrm>
            <a:off x="3109243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B835DD4-C6E6-2307-2579-6FF740152BC5}"/>
              </a:ext>
            </a:extLst>
          </p:cNvPr>
          <p:cNvSpPr>
            <a:spLocks noChangeAspect="1"/>
          </p:cNvSpPr>
          <p:nvPr/>
        </p:nvSpPr>
        <p:spPr>
          <a:xfrm>
            <a:off x="3109243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X</a:t>
            </a:r>
            <a:endParaRPr kumimoji="0" lang="ru-RU" sz="20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977F0-4017-B7CA-A429-FB4BF9C3F208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76C5A2E-5626-F198-9C58-5B01B1014A9C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CA874-2D48-7E9A-2FA8-4EB439EF91B9}"/>
              </a:ext>
            </a:extLst>
          </p:cNvPr>
          <p:cNvSpPr txBox="1"/>
          <p:nvPr/>
        </p:nvSpPr>
        <p:spPr>
          <a:xfrm>
            <a:off x="403485" y="4550975"/>
            <a:ext cx="2530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Tamomlanmagan / </a:t>
            </a:r>
          </a:p>
          <a:p>
            <a:pPr algn="just"/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Not completed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22A1C-A987-398D-368E-6B4986F7FF50}"/>
              </a:ext>
            </a:extLst>
          </p:cNvPr>
          <p:cNvSpPr txBox="1"/>
          <p:nvPr/>
        </p:nvSpPr>
        <p:spPr>
          <a:xfrm>
            <a:off x="5064774" y="4550975"/>
            <a:ext cx="2530215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just">
              <a:defRPr sz="1400" b="1" spc="20">
                <a:solidFill>
                  <a:prstClr val="black"/>
                </a:solidFill>
                <a:latin typeface="Gilroy" panose="00000500000000000000" pitchFamily="2" charset="-52"/>
              </a:defRPr>
            </a:lvl1pPr>
          </a:lstStyle>
          <a:p>
            <a:r>
              <a:rPr lang="uz-Cyrl-UZ" dirty="0"/>
              <a:t>Backend dasturlash tushun-chalarini o'z ichiga olgan</a:t>
            </a:r>
            <a:br>
              <a:rPr lang="uz-Cyrl-UZ" dirty="0"/>
            </a:br>
            <a:r>
              <a:rPr lang="uz-Cyrl-UZ" dirty="0"/>
              <a:t>50 ta mashqni va  4 ta loyihani to‘liq yakunladi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C373443-14AF-1313-14D3-0313D0C30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965205"/>
              </p:ext>
            </p:extLst>
          </p:nvPr>
        </p:nvGraphicFramePr>
        <p:xfrm>
          <a:off x="403483" y="3299087"/>
          <a:ext cx="8552921" cy="1125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1448">
                  <a:extLst>
                    <a:ext uri="{9D8B030D-6E8A-4147-A177-3AD203B41FA5}">
                      <a16:colId xmlns:a16="http://schemas.microsoft.com/office/drawing/2014/main" val="809650660"/>
                    </a:ext>
                  </a:extLst>
                </a:gridCol>
                <a:gridCol w="445463">
                  <a:extLst>
                    <a:ext uri="{9D8B030D-6E8A-4147-A177-3AD203B41FA5}">
                      <a16:colId xmlns:a16="http://schemas.microsoft.com/office/drawing/2014/main" val="3163585519"/>
                    </a:ext>
                  </a:extLst>
                </a:gridCol>
                <a:gridCol w="327688">
                  <a:extLst>
                    <a:ext uri="{9D8B030D-6E8A-4147-A177-3AD203B41FA5}">
                      <a16:colId xmlns:a16="http://schemas.microsoft.com/office/drawing/2014/main" val="1775796282"/>
                    </a:ext>
                  </a:extLst>
                </a:gridCol>
                <a:gridCol w="815312">
                  <a:extLst>
                    <a:ext uri="{9D8B030D-6E8A-4147-A177-3AD203B41FA5}">
                      <a16:colId xmlns:a16="http://schemas.microsoft.com/office/drawing/2014/main" val="1007615750"/>
                    </a:ext>
                  </a:extLst>
                </a:gridCol>
                <a:gridCol w="769144">
                  <a:extLst>
                    <a:ext uri="{9D8B030D-6E8A-4147-A177-3AD203B41FA5}">
                      <a16:colId xmlns:a16="http://schemas.microsoft.com/office/drawing/2014/main" val="277786459"/>
                    </a:ext>
                  </a:extLst>
                </a:gridCol>
                <a:gridCol w="229576">
                  <a:extLst>
                    <a:ext uri="{9D8B030D-6E8A-4147-A177-3AD203B41FA5}">
                      <a16:colId xmlns:a16="http://schemas.microsoft.com/office/drawing/2014/main" val="2781305556"/>
                    </a:ext>
                  </a:extLst>
                </a:gridCol>
                <a:gridCol w="773151">
                  <a:extLst>
                    <a:ext uri="{9D8B030D-6E8A-4147-A177-3AD203B41FA5}">
                      <a16:colId xmlns:a16="http://schemas.microsoft.com/office/drawing/2014/main" val="1107795385"/>
                    </a:ext>
                  </a:extLst>
                </a:gridCol>
                <a:gridCol w="1747616">
                  <a:extLst>
                    <a:ext uri="{9D8B030D-6E8A-4147-A177-3AD203B41FA5}">
                      <a16:colId xmlns:a16="http://schemas.microsoft.com/office/drawing/2014/main" val="3516350726"/>
                    </a:ext>
                  </a:extLst>
                </a:gridCol>
                <a:gridCol w="370372">
                  <a:extLst>
                    <a:ext uri="{9D8B030D-6E8A-4147-A177-3AD203B41FA5}">
                      <a16:colId xmlns:a16="http://schemas.microsoft.com/office/drawing/2014/main" val="1058257816"/>
                    </a:ext>
                  </a:extLst>
                </a:gridCol>
                <a:gridCol w="773151">
                  <a:extLst>
                    <a:ext uri="{9D8B030D-6E8A-4147-A177-3AD203B41FA5}">
                      <a16:colId xmlns:a16="http://schemas.microsoft.com/office/drawing/2014/main" val="717832204"/>
                    </a:ext>
                  </a:extLst>
                </a:gridCol>
              </a:tblGrid>
              <a:tr h="562856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Preseason Web</a:t>
                      </a:r>
                    </a:p>
                    <a:p>
                      <a:pPr algn="l"/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(HTML,</a:t>
                      </a:r>
                      <a:r>
                        <a:rPr lang="uz-Cyrl-UZ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CSS,</a:t>
                      </a:r>
                      <a:r>
                        <a:rPr lang="uz-Cyrl-UZ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JavaScript) (1 oy/mo.)</a:t>
                      </a:r>
                      <a:endParaRPr lang="ru-RU" sz="9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01 Arc 01</a:t>
                      </a:r>
                    </a:p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(C)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(2 oy/mo.)</a:t>
                      </a:r>
                      <a:endParaRPr lang="ru-RU" sz="900" b="1" kern="1200" spc="100" baseline="0" noProof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b="1" kern="1200" spc="100" baseline="0" noProof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02 Fullstack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(Ruby, JavaScript) (6 oy/mo.)</a:t>
                      </a:r>
                      <a:endParaRPr lang="en-US" sz="9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136764"/>
                  </a:ext>
                </a:extLst>
              </a:tr>
              <a:tr h="562856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Frontend 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(JavaScript) (</a:t>
                      </a:r>
                      <a:r>
                        <a:rPr kumimoji="0" lang="ru-RU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oy/mo.)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Backend 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b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000" b="1" i="0" u="none" strike="noStrike" kern="1200" cap="none" spc="4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(Ruby, Python, JavaScript, Java) (</a:t>
                      </a:r>
                      <a:r>
                        <a:rPr kumimoji="0" lang="ru-RU" sz="1000" b="1" i="0" u="none" strike="noStrike" kern="1200" cap="none" spc="4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000" b="1" i="0" u="none" strike="noStrike" kern="1200" cap="none" spc="4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oy/mo.)</a:t>
                      </a:r>
                      <a:endParaRPr lang="ru-RU" sz="1400" b="1" kern="1200" spc="4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Backend</a:t>
                      </a:r>
                      <a:endParaRPr kumimoji="0" lang="uz-Cyrl-UZ" sz="2000" b="1" i="0" u="none" strike="noStrike" kern="1200" cap="none" spc="10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(6 oy)</a:t>
                      </a: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100%</a:t>
                      </a: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8499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463</TotalTime>
  <Words>338</Words>
  <Application>Microsoft Office PowerPoint</Application>
  <PresentationFormat>Custom</PresentationFormat>
  <Paragraphs>45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Тема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Astrum</cp:lastModifiedBy>
  <cp:revision>110</cp:revision>
  <cp:lastPrinted>2023-05-11T13:15:46Z</cp:lastPrinted>
  <dcterms:created xsi:type="dcterms:W3CDTF">2023-05-02T10:05:08Z</dcterms:created>
  <dcterms:modified xsi:type="dcterms:W3CDTF">2023-11-11T05:25:46Z</dcterms:modified>
</cp:coreProperties>
</file>