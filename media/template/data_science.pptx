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6AFB33-0792-1EDA-B525-CB058D3CDDF7}" v="9" dt="2023-11-11T05:26:23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88"/>
    <p:restoredTop sz="96357" autoAdjust="0"/>
  </p:normalViewPr>
  <p:slideViewPr>
    <p:cSldViewPr snapToGrid="0">
      <p:cViewPr varScale="1">
        <p:scale>
          <a:sx n="159" d="100"/>
          <a:sy n="159" d="100"/>
        </p:scale>
        <p:origin x="720" y="176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C8DE7F0-958D-6AAF-3961-EAAE8D244DF1}"/>
              </a:ext>
            </a:extLst>
          </p:cNvPr>
          <p:cNvSpPr txBox="1"/>
          <p:nvPr/>
        </p:nvSpPr>
        <p:spPr>
          <a:xfrm>
            <a:off x="3518413" y="209310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3088008" y="563253"/>
            <a:ext cx="3183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Gilroy" panose="00000500000000000000" pitchFamily="2" charset="-52"/>
              </a:rPr>
              <a:t>ASTRUM IT ACADEMY</a:t>
            </a:r>
            <a:endParaRPr lang="ru-RU" sz="2400" b="1" dirty="0">
              <a:latin typeface="Gilroy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732827" y="1071084"/>
            <a:ext cx="5894241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6600" b="1" spc="990" dirty="0">
                <a:solidFill>
                  <a:srgbClr val="5430CE"/>
                </a:solidFill>
                <a:latin typeface="Gilroy-Black"/>
              </a:rPr>
              <a:t>CERTIFICATE</a:t>
            </a:r>
            <a:endParaRPr lang="ru-RU" sz="6600" b="1" spc="990">
              <a:solidFill>
                <a:srgbClr val="5430CE"/>
              </a:solidFill>
              <a:latin typeface="Gilroy-Blac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0FBDC41-E2C0-D7A9-5C61-87B0CC08AFD2}"/>
              </a:ext>
            </a:extLst>
          </p:cNvPr>
          <p:cNvSpPr/>
          <p:nvPr/>
        </p:nvSpPr>
        <p:spPr>
          <a:xfrm>
            <a:off x="2007162" y="4944356"/>
            <a:ext cx="5345575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ADF1E1-F828-F2CC-D1CE-8E6A84BF917B}"/>
              </a:ext>
            </a:extLst>
          </p:cNvPr>
          <p:cNvSpPr txBox="1"/>
          <p:nvPr/>
        </p:nvSpPr>
        <p:spPr>
          <a:xfrm>
            <a:off x="3403799" y="4979993"/>
            <a:ext cx="2552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tamomla</a:t>
            </a:r>
            <a:r>
              <a:rPr lang="en-US" sz="900" dirty="0">
                <a:latin typeface="Gilroy" panose="00000500000000000000" pitchFamily="2" charset="-52"/>
              </a:rPr>
              <a:t>n</a:t>
            </a:r>
            <a:r>
              <a:rPr lang="uz-Cyrl-UZ" sz="900" dirty="0">
                <a:latin typeface="Gilroy" panose="00000500000000000000" pitchFamily="2" charset="-52"/>
              </a:rPr>
              <a:t>gan yo‘nalish / graduated course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81083" y="3096763"/>
            <a:ext cx="4597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bitiruvchining familiyasi, ismi, otasining ismi  / graduate’s surname, name, first 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403490" y="3443478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Ushbu sertifikat bitiruvchiga quyidagi yo‘nalish bo‘yicha</a:t>
            </a:r>
            <a:r>
              <a:rPr lang="en-US" sz="1000" b="1" spc="100" dirty="0">
                <a:latin typeface="Gilroy" panose="00000500000000000000" pitchFamily="2" charset="-52"/>
              </a:rPr>
              <a:t> </a:t>
            </a:r>
            <a:r>
              <a:rPr lang="uz-Cyrl-UZ" sz="1000" b="1" spc="100" dirty="0">
                <a:latin typeface="Gilroy" panose="00000500000000000000" pitchFamily="2" charset="-52"/>
              </a:rPr>
              <a:t>dasturlash o‘quv kursini</a:t>
            </a:r>
          </a:p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muvaffaqiyatli tamomlagani uchun berildi </a:t>
            </a: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endParaRPr lang="en-US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is awarded to the recipient for successfully completing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the programming course in the following track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EB536E-D505-E3C2-0643-E227793FCEBF}"/>
              </a:ext>
            </a:extLst>
          </p:cNvPr>
          <p:cNvSpPr txBox="1"/>
          <p:nvPr/>
        </p:nvSpPr>
        <p:spPr>
          <a:xfrm>
            <a:off x="2007160" y="4421136"/>
            <a:ext cx="53455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5430CE"/>
                </a:solidFill>
                <a:latin typeface="Gilroy-Black"/>
              </a:rPr>
              <a:t>DATA SCIENCE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473317" y="5426730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Certificate</a:t>
            </a:r>
          </a:p>
          <a:p>
            <a:r>
              <a:rPr lang="en-US" sz="800" dirty="0">
                <a:latin typeface="Gilroy" panose="00000500000000000000" pitchFamily="2" charset="-52"/>
              </a:rPr>
              <a:t>ilovasiz</a:t>
            </a:r>
            <a:r>
              <a:rPr lang="ru-RU" sz="800" dirty="0">
                <a:latin typeface="Gilroy" panose="00000500000000000000" pitchFamily="2" charset="-52"/>
              </a:rPr>
              <a:t> </a:t>
            </a:r>
            <a:r>
              <a:rPr lang="en-US" sz="800" dirty="0">
                <a:latin typeface="Gilroy" panose="00000500000000000000" pitchFamily="2" charset="-52"/>
              </a:rPr>
              <a:t>kuchga ega emas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invalid without appendix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4041011" y="5426729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534344" y="5426728"/>
            <a:ext cx="1369287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region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C2104-F4B9-845B-8468-AB53605DDAC0}"/>
              </a:ext>
            </a:extLst>
          </p:cNvPr>
          <p:cNvSpPr txBox="1"/>
          <p:nvPr/>
        </p:nvSpPr>
        <p:spPr>
          <a:xfrm>
            <a:off x="403485" y="4197531"/>
            <a:ext cx="11858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ijro.gov.uz</a:t>
            </a:r>
            <a:endParaRPr kumimoji="0" lang="uz-Cyrl-UZ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EB89B89-93F9-7ECF-D5BE-5FFC310EC138}"/>
              </a:ext>
            </a:extLst>
          </p:cNvPr>
          <p:cNvGrpSpPr/>
          <p:nvPr/>
        </p:nvGrpSpPr>
        <p:grpSpPr>
          <a:xfrm>
            <a:off x="0" y="0"/>
            <a:ext cx="9359900" cy="6119814"/>
            <a:chOff x="9359900" y="0"/>
            <a:chExt cx="9359900" cy="6119814"/>
          </a:xfrm>
        </p:grpSpPr>
        <p:pic>
          <p:nvPicPr>
            <p:cNvPr id="17" name="Рисунок 16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CEC1753-0B61-1AF8-5CFC-C35735292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 flipH="1">
              <a:off x="9359900" y="0"/>
              <a:ext cx="9359900" cy="6119813"/>
            </a:xfrm>
            <a:prstGeom prst="rect">
              <a:avLst/>
            </a:prstGeom>
          </p:spPr>
        </p:pic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FA40D93-759B-F061-BA3B-DD5132B374D8}"/>
                </a:ext>
              </a:extLst>
            </p:cNvPr>
            <p:cNvSpPr/>
            <p:nvPr/>
          </p:nvSpPr>
          <p:spPr>
            <a:xfrm>
              <a:off x="9359900" y="1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D86B770-8A9C-0E68-436F-2B7162C9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1471" b="42838"/>
            <a:stretch/>
          </p:blipFill>
          <p:spPr>
            <a:xfrm>
              <a:off x="9359900" y="1857861"/>
              <a:ext cx="8294914" cy="4261952"/>
            </a:xfrm>
            <a:prstGeom prst="rect">
              <a:avLst/>
            </a:prstGeom>
          </p:spPr>
        </p:pic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D59EFC3B-9EE5-FD0F-709F-45679C14C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1615" y="229216"/>
              <a:ext cx="1486398" cy="440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85" y="1408518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81078" y="1446168"/>
            <a:ext cx="4597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bitiruvchining familiyasi, ismi, otasining ismi  / graduate’s surname, name, first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8235D-D17D-0498-B9C1-B0D0546C6116}"/>
              </a:ext>
            </a:extLst>
          </p:cNvPr>
          <p:cNvSpPr txBox="1"/>
          <p:nvPr/>
        </p:nvSpPr>
        <p:spPr>
          <a:xfrm>
            <a:off x="400005" y="303544"/>
            <a:ext cx="1249701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E6472-1977-FE23-5ACD-A4FE297F074A}"/>
              </a:ext>
            </a:extLst>
          </p:cNvPr>
          <p:cNvSpPr txBox="1"/>
          <p:nvPr/>
        </p:nvSpPr>
        <p:spPr>
          <a:xfrm>
            <a:off x="3629822" y="301642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Gilroy" panose="00000500000000000000" pitchFamily="2" charset="-52"/>
              </a:rPr>
              <a:t>SERTIFIKAT ILOVASI /</a:t>
            </a:r>
          </a:p>
          <a:p>
            <a:pPr algn="ctr"/>
            <a:r>
              <a:rPr lang="en-US" sz="1400" b="1" dirty="0">
                <a:latin typeface="Gilroy" panose="00000500000000000000" pitchFamily="2" charset="-52"/>
              </a:rPr>
              <a:t>CERTIFICATE APPENDIX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6C754-1166-BC74-8309-A8DACDDA8BCF}"/>
              </a:ext>
            </a:extLst>
          </p:cNvPr>
          <p:cNvSpPr txBox="1"/>
          <p:nvPr/>
        </p:nvSpPr>
        <p:spPr>
          <a:xfrm>
            <a:off x="2468030" y="1763791"/>
            <a:ext cx="442384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ru-RU" sz="3200" b="1" dirty="0">
                <a:solidFill>
                  <a:srgbClr val="5430CE"/>
                </a:solidFill>
                <a:latin typeface="Gilroy-Black"/>
              </a:rPr>
              <a:t>« </a:t>
            </a:r>
            <a:r>
              <a:rPr lang="en-US" sz="3200" b="1" dirty="0">
                <a:solidFill>
                  <a:srgbClr val="5430CE"/>
                </a:solidFill>
                <a:latin typeface="Gilroy-Black"/>
              </a:rPr>
              <a:t>Qwasar Silicon Valley</a:t>
            </a:r>
            <a:r>
              <a:rPr lang="ru-RU" sz="3200" b="1" dirty="0">
                <a:solidFill>
                  <a:srgbClr val="5430CE"/>
                </a:solidFill>
                <a:latin typeface="Gilroy-Black"/>
              </a:rPr>
              <a:t> »</a:t>
            </a:r>
            <a:endParaRPr lang="ru-RU" sz="2800" b="1">
              <a:solidFill>
                <a:srgbClr val="5430CE"/>
              </a:solidFill>
              <a:latin typeface="Gilroy-Black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68BAB2-AF90-09F0-9D47-FBD399DD56D5}"/>
              </a:ext>
            </a:extLst>
          </p:cNvPr>
          <p:cNvSpPr txBox="1"/>
          <p:nvPr/>
        </p:nvSpPr>
        <p:spPr>
          <a:xfrm>
            <a:off x="1186045" y="2346083"/>
            <a:ext cx="6987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2600">
              <a:defRPr/>
            </a:pPr>
            <a:r>
              <a:rPr lang="uz-Cyrl-UZ" sz="900" dirty="0">
                <a:latin typeface="Gilroy" panose="00000500000000000000" pitchFamily="2" charset="-52"/>
              </a:rPr>
              <a:t>AQSh, Kaliforniya, Silikon vodiysi standartlari asosida ishlab chiqilgan dasturiy ta'minot muhandisligi maktabi o’quv platformasi / </a:t>
            </a:r>
          </a:p>
          <a:p>
            <a:pPr algn="ctr" defTabSz="452600">
              <a:defRPr/>
            </a:pPr>
            <a:r>
              <a:rPr lang="en-US" sz="900" dirty="0">
                <a:latin typeface="Gilroy" panose="00000500000000000000" pitchFamily="2" charset="-52"/>
              </a:rPr>
              <a:t>A US-based software engineering school in California, Silicon Valley, operating on standard educational platforms</a:t>
            </a:r>
            <a:endParaRPr lang="uz-Cyrl-UZ" sz="900" dirty="0">
              <a:latin typeface="Gilroy" panose="00000500000000000000" pitchFamily="2" charset="-5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8269-DC11-D0A0-368F-8FBA19864A30}"/>
              </a:ext>
            </a:extLst>
          </p:cNvPr>
          <p:cNvSpPr txBox="1"/>
          <p:nvPr/>
        </p:nvSpPr>
        <p:spPr>
          <a:xfrm>
            <a:off x="403490" y="2775628"/>
            <a:ext cx="855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B</a:t>
            </a:r>
            <a:r>
              <a:rPr lang="uz-Cyrl-UZ" sz="1200" b="1" spc="100" dirty="0">
                <a:latin typeface="Gilroy" panose="00000500000000000000" pitchFamily="2" charset="-52"/>
              </a:rPr>
              <a:t>itiruvchi</a:t>
            </a:r>
            <a:r>
              <a:rPr lang="en-US" sz="1200" b="1" spc="100" dirty="0">
                <a:latin typeface="Gilroy" panose="00000500000000000000" pitchFamily="2" charset="-52"/>
              </a:rPr>
              <a:t> ushbu o‘quv platformasida 13 oy davomida quyidagi bosqichlarni tamomladi /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The graduate completed the following steps during the 13 months on this learning platform</a:t>
            </a:r>
          </a:p>
        </p:txBody>
      </p:sp>
      <p:graphicFrame>
        <p:nvGraphicFramePr>
          <p:cNvPr id="58" name="Таблица 3">
            <a:extLst>
              <a:ext uri="{FF2B5EF4-FFF2-40B4-BE49-F238E27FC236}">
                <a16:creationId xmlns:a16="http://schemas.microsoft.com/office/drawing/2014/main" id="{FC1F6C18-3D73-3687-7B27-4F1FF7949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393916"/>
              </p:ext>
            </p:extLst>
          </p:nvPr>
        </p:nvGraphicFramePr>
        <p:xfrm>
          <a:off x="403485" y="3299087"/>
          <a:ext cx="3891643" cy="1125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5923">
                  <a:extLst>
                    <a:ext uri="{9D8B030D-6E8A-4147-A177-3AD203B41FA5}">
                      <a16:colId xmlns:a16="http://schemas.microsoft.com/office/drawing/2014/main" val="809650660"/>
                    </a:ext>
                  </a:extLst>
                </a:gridCol>
                <a:gridCol w="1145720">
                  <a:extLst>
                    <a:ext uri="{9D8B030D-6E8A-4147-A177-3AD203B41FA5}">
                      <a16:colId xmlns:a16="http://schemas.microsoft.com/office/drawing/2014/main" val="3163585519"/>
                    </a:ext>
                  </a:extLst>
                </a:gridCol>
              </a:tblGrid>
              <a:tr h="562856">
                <a:tc>
                  <a:txBody>
                    <a:bodyPr/>
                    <a:lstStyle/>
                    <a:p>
                      <a:r>
                        <a:rPr lang="en-US" sz="14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Preseason Data</a:t>
                      </a:r>
                    </a:p>
                    <a:p>
                      <a:r>
                        <a:rPr lang="en-US" sz="900" b="1" kern="1200" spc="100" baseline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(Python) (1 oy/mo.)</a:t>
                      </a:r>
                      <a:endParaRPr lang="ru-RU" sz="9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136764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Data Science</a:t>
                      </a:r>
                      <a:endParaRPr kumimoji="0" lang="ru-RU" sz="2000" b="1" i="0" u="none" strike="noStrike" kern="1200" cap="none" spc="10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ru-RU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(Python) (7 oy/mo.)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8499193"/>
                  </a:ext>
                </a:extLst>
              </a:tr>
            </a:tbl>
          </a:graphicData>
        </a:graphic>
      </p:graphicFrame>
      <p:graphicFrame>
        <p:nvGraphicFramePr>
          <p:cNvPr id="59" name="Таблица 3">
            <a:extLst>
              <a:ext uri="{FF2B5EF4-FFF2-40B4-BE49-F238E27FC236}">
                <a16:creationId xmlns:a16="http://schemas.microsoft.com/office/drawing/2014/main" id="{AD3948AA-1582-CE10-3E9E-44A9347EF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750549"/>
              </p:ext>
            </p:extLst>
          </p:nvPr>
        </p:nvGraphicFramePr>
        <p:xfrm>
          <a:off x="5064774" y="3297693"/>
          <a:ext cx="3891643" cy="1125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5923">
                  <a:extLst>
                    <a:ext uri="{9D8B030D-6E8A-4147-A177-3AD203B41FA5}">
                      <a16:colId xmlns:a16="http://schemas.microsoft.com/office/drawing/2014/main" val="809650660"/>
                    </a:ext>
                  </a:extLst>
                </a:gridCol>
                <a:gridCol w="1145720">
                  <a:extLst>
                    <a:ext uri="{9D8B030D-6E8A-4147-A177-3AD203B41FA5}">
                      <a16:colId xmlns:a16="http://schemas.microsoft.com/office/drawing/2014/main" val="3163585519"/>
                    </a:ext>
                  </a:extLst>
                </a:gridCol>
              </a:tblGrid>
              <a:tr h="562856">
                <a:tc>
                  <a:txBody>
                    <a:bodyPr/>
                    <a:lstStyle/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spc="100" baseline="0" noProof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01 Arc 01</a:t>
                      </a:r>
                    </a:p>
                    <a:p>
                      <a:pPr marL="0" marR="0" lvl="0" indent="0" algn="l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spc="100" baseline="0" noProof="0" dirty="0">
                          <a:solidFill>
                            <a:prstClr val="black"/>
                          </a:solidFill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(C) (2 oy/mo.)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136764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Machine Learning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Season 0</a:t>
                      </a:r>
                      <a:r>
                        <a:rPr kumimoji="0" lang="ru-RU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(Python)</a:t>
                      </a:r>
                      <a:r>
                        <a:rPr kumimoji="0" lang="ru-RU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(3 oy/mo.)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04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spc="100" baseline="0" dirty="0">
                        <a:solidFill>
                          <a:prstClr val="black"/>
                        </a:solidFill>
                        <a:latin typeface="Gilroy" panose="00000500000000000000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8499193"/>
                  </a:ext>
                </a:extLst>
              </a:tr>
            </a:tbl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B1ACE0D0-74B5-0204-9978-C50DBD35868F}"/>
              </a:ext>
            </a:extLst>
          </p:cNvPr>
          <p:cNvSpPr txBox="1"/>
          <p:nvPr/>
        </p:nvSpPr>
        <p:spPr>
          <a:xfrm>
            <a:off x="3109243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61" name="Прямоугольник: скругленные углы 60">
            <a:extLst>
              <a:ext uri="{FF2B5EF4-FFF2-40B4-BE49-F238E27FC236}">
                <a16:creationId xmlns:a16="http://schemas.microsoft.com/office/drawing/2014/main" id="{FBE6670B-14E3-F00C-EAD9-6A7A8F398529}"/>
              </a:ext>
            </a:extLst>
          </p:cNvPr>
          <p:cNvSpPr>
            <a:spLocks noChangeAspect="1"/>
          </p:cNvSpPr>
          <p:nvPr/>
        </p:nvSpPr>
        <p:spPr>
          <a:xfrm>
            <a:off x="3109243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2A60F3-CE64-001F-30B2-C82FBD8D7BD3}"/>
              </a:ext>
            </a:extLst>
          </p:cNvPr>
          <p:cNvSpPr txBox="1"/>
          <p:nvPr/>
        </p:nvSpPr>
        <p:spPr>
          <a:xfrm>
            <a:off x="7770525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3F6D19E7-37B4-345F-330F-0F963C384DCD}"/>
              </a:ext>
            </a:extLst>
          </p:cNvPr>
          <p:cNvSpPr>
            <a:spLocks noChangeAspect="1"/>
          </p:cNvSpPr>
          <p:nvPr/>
        </p:nvSpPr>
        <p:spPr>
          <a:xfrm>
            <a:off x="7770525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spc="100" dirty="0">
                <a:solidFill>
                  <a:prstClr val="black"/>
                </a:solidFill>
                <a:latin typeface="Gilroy" panose="00000500000000000000" pitchFamily="2" charset="-52"/>
              </a:rPr>
              <a:t>X</a:t>
            </a:r>
            <a:endParaRPr lang="ru-RU" sz="2000" b="1" kern="1200" spc="100" baseline="0" dirty="0">
              <a:solidFill>
                <a:prstClr val="black"/>
              </a:solidFill>
              <a:latin typeface="Gilroy" panose="00000500000000000000" pitchFamily="2" charset="-52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F20C0A7-4140-4148-21B6-B8A60A059908}"/>
              </a:ext>
            </a:extLst>
          </p:cNvPr>
          <p:cNvSpPr txBox="1"/>
          <p:nvPr/>
        </p:nvSpPr>
        <p:spPr>
          <a:xfrm>
            <a:off x="403485" y="4550975"/>
            <a:ext cx="2530215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/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Python dasturlash tilida</a:t>
            </a:r>
            <a:b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</a:b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Data Science asoslarini</a:t>
            </a:r>
            <a:b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</a:b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o'z ichiga olgan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20 ta </a:t>
            </a:r>
            <a:r>
              <a:rPr kumimoji="0" lang="en-US" sz="1400" b="1" i="0" u="none" strike="noStrike" kern="1200" cap="none" spc="2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mashqni va</a:t>
            </a: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14 </a:t>
            </a: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ta loyiha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ni</a:t>
            </a:r>
            <a:r>
              <a:rPr lang="uz-Cyrl-UZ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 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to‘liq </a:t>
            </a:r>
            <a:r>
              <a:rPr lang="ru-RU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yakunla</a:t>
            </a:r>
            <a:r>
              <a:rPr lang="en-US" sz="1400" b="1" spc="20" dirty="0">
                <a:solidFill>
                  <a:prstClr val="black"/>
                </a:solidFill>
                <a:latin typeface="Gilroy" panose="00000500000000000000" pitchFamily="2" charset="-52"/>
              </a:rPr>
              <a:t>di</a:t>
            </a:r>
            <a:endParaRPr lang="ru-RU" sz="1400" b="1" spc="20" dirty="0">
              <a:solidFill>
                <a:prstClr val="black"/>
              </a:solidFill>
              <a:latin typeface="Gilroy" panose="00000500000000000000" pitchFamily="2" charset="-52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DE6322-9E1A-2BBD-7024-C14F05F53778}"/>
              </a:ext>
            </a:extLst>
          </p:cNvPr>
          <p:cNvSpPr txBox="1"/>
          <p:nvPr/>
        </p:nvSpPr>
        <p:spPr>
          <a:xfrm>
            <a:off x="5064774" y="4550975"/>
            <a:ext cx="2530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just">
              <a:defRPr sz="1400" b="1" spc="20">
                <a:solidFill>
                  <a:prstClr val="black"/>
                </a:solidFill>
                <a:latin typeface="Gilroy" panose="00000500000000000000" pitchFamily="2" charset="-52"/>
              </a:defRPr>
            </a:lvl1pPr>
          </a:lstStyle>
          <a:p>
            <a:r>
              <a:rPr lang="en-US" dirty="0"/>
              <a:t>Tamomlanmagan / </a:t>
            </a:r>
          </a:p>
          <a:p>
            <a:r>
              <a:rPr lang="en-US" dirty="0"/>
              <a:t>Not completed</a:t>
            </a:r>
          </a:p>
        </p:txBody>
      </p:sp>
    </p:spTree>
    <p:extLst>
      <p:ext uri="{BB962C8B-B14F-4D97-AF65-F5344CB8AC3E}">
        <p14:creationId xmlns:p14="http://schemas.microsoft.com/office/powerpoint/2010/main" val="3474080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453</TotalTime>
  <Words>321</Words>
  <Application>Microsoft Office PowerPoint</Application>
  <PresentationFormat>Custom</PresentationFormat>
  <Paragraphs>45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Тема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Odil Azizov</dc:creator>
  <cp:lastModifiedBy>Astrum</cp:lastModifiedBy>
  <cp:revision>99</cp:revision>
  <cp:lastPrinted>2023-05-11T13:15:46Z</cp:lastPrinted>
  <dcterms:created xsi:type="dcterms:W3CDTF">2023-05-02T10:05:08Z</dcterms:created>
  <dcterms:modified xsi:type="dcterms:W3CDTF">2023-11-11T05:26:39Z</dcterms:modified>
</cp:coreProperties>
</file>