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8" r:id="rId3"/>
  </p:sldIdLst>
  <p:sldSz cx="9359900" cy="6119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7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E88F6A-D34C-5AD9-AC4F-F3A7425F4A78}" v="1" dt="2023-11-09T08:46:31.637"/>
    <p1510:client id="{8BD23ADE-37C0-E705-7A54-524A4A340DA9}" v="9" dt="2023-11-11T05:36:17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57" autoAdjust="0"/>
  </p:normalViewPr>
  <p:slideViewPr>
    <p:cSldViewPr snapToGrid="0">
      <p:cViewPr varScale="1">
        <p:scale>
          <a:sx n="159" d="100"/>
          <a:sy n="159" d="100"/>
        </p:scale>
        <p:origin x="720" y="176"/>
      </p:cViewPr>
      <p:guideLst>
        <p:guide orient="horz" pos="1927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E420A-D8EA-4169-B0CB-BD7427D63971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22325" y="1233488"/>
            <a:ext cx="50911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BA1A7-97E7-422D-BA07-F63C8FF33BD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75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1pPr>
    <a:lvl2pPr marL="3714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2pPr>
    <a:lvl3pPr marL="7429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3pPr>
    <a:lvl4pPr marL="11144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4pPr>
    <a:lvl5pPr marL="14859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5pPr>
    <a:lvl6pPr marL="18573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6pPr>
    <a:lvl7pPr marL="22288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7pPr>
    <a:lvl8pPr marL="26003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8pPr>
    <a:lvl9pPr marL="29718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BA1A7-97E7-422D-BA07-F63C8FF33BD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87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04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20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55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89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989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86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85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943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3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69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9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8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6A6BEA9-4304-9669-C56A-FA726AF1EB7F}"/>
              </a:ext>
            </a:extLst>
          </p:cNvPr>
          <p:cNvGrpSpPr/>
          <p:nvPr/>
        </p:nvGrpSpPr>
        <p:grpSpPr>
          <a:xfrm>
            <a:off x="0" y="0"/>
            <a:ext cx="9359900" cy="6119815"/>
            <a:chOff x="0" y="-2"/>
            <a:chExt cx="9359900" cy="6119815"/>
          </a:xfrm>
        </p:grpSpPr>
        <p:pic>
          <p:nvPicPr>
            <p:cNvPr id="3" name="Рисунок 2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93032C18-78DA-96F8-D6EA-B18AB667D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>
              <a:off x="0" y="0"/>
              <a:ext cx="9359900" cy="6119813"/>
            </a:xfrm>
            <a:prstGeom prst="rect">
              <a:avLst/>
            </a:prstGeom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1DD7B67-9B3C-5C79-6E9F-495453D68FBD}"/>
                </a:ext>
              </a:extLst>
            </p:cNvPr>
            <p:cNvSpPr/>
            <p:nvPr/>
          </p:nvSpPr>
          <p:spPr>
            <a:xfrm>
              <a:off x="0" y="-2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" name="Рисунок 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341518B-C545-04BD-3C99-5570A5A85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71" r="50000" b="42838"/>
            <a:stretch/>
          </p:blipFill>
          <p:spPr>
            <a:xfrm>
              <a:off x="1064986" y="1857860"/>
              <a:ext cx="8294914" cy="4261952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Шрифт, Графика, графический дизайн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6A93067C-4E22-80CE-A66C-822901CD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21" y="229215"/>
              <a:ext cx="1097424" cy="44094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C8DE7F0-958D-6AAF-3961-EAAE8D244DF1}"/>
              </a:ext>
            </a:extLst>
          </p:cNvPr>
          <p:cNvSpPr txBox="1"/>
          <p:nvPr/>
        </p:nvSpPr>
        <p:spPr>
          <a:xfrm>
            <a:off x="3518413" y="209310"/>
            <a:ext cx="2323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Gilroy" panose="00000500000000000000" pitchFamily="2" charset="-52"/>
              </a:rPr>
              <a:t>«</a:t>
            </a:r>
            <a:r>
              <a:rPr lang="en-US" sz="1400" dirty="0">
                <a:latin typeface="Gilroy" panose="00000500000000000000" pitchFamily="2" charset="-52"/>
              </a:rPr>
              <a:t>BILIM TECH</a:t>
            </a:r>
            <a:r>
              <a:rPr lang="ru-RU" sz="1400" dirty="0">
                <a:latin typeface="Gilroy" panose="00000500000000000000" pitchFamily="2" charset="-52"/>
              </a:rPr>
              <a:t>» </a:t>
            </a:r>
            <a:r>
              <a:rPr lang="en-US" sz="1400" dirty="0">
                <a:latin typeface="Gilroy" panose="00000500000000000000" pitchFamily="2" charset="-52"/>
              </a:rPr>
              <a:t>MCHJ / LLC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E0F72-9FA7-B700-3314-7DA3A13DD0D7}"/>
              </a:ext>
            </a:extLst>
          </p:cNvPr>
          <p:cNvSpPr txBox="1"/>
          <p:nvPr/>
        </p:nvSpPr>
        <p:spPr>
          <a:xfrm>
            <a:off x="3088008" y="563253"/>
            <a:ext cx="3183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Gilroy" panose="00000500000000000000" pitchFamily="2" charset="-52"/>
              </a:rPr>
              <a:t>ASTRUM IT ACADEMY</a:t>
            </a:r>
            <a:endParaRPr lang="ru-RU" sz="2400" b="1" dirty="0">
              <a:latin typeface="Gilroy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5D8F-5F11-BBAE-7C65-4F2DEBAEC626}"/>
              </a:ext>
            </a:extLst>
          </p:cNvPr>
          <p:cNvSpPr txBox="1"/>
          <p:nvPr/>
        </p:nvSpPr>
        <p:spPr>
          <a:xfrm>
            <a:off x="1732827" y="1071084"/>
            <a:ext cx="5894241" cy="110799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6600" b="1" spc="990" dirty="0">
                <a:solidFill>
                  <a:srgbClr val="5430CE"/>
                </a:solidFill>
                <a:latin typeface="Gilroy-Black"/>
              </a:rPr>
              <a:t>CERTIFICATE</a:t>
            </a:r>
            <a:endParaRPr lang="ru-RU" sz="6600" b="1" spc="990" dirty="0">
              <a:solidFill>
                <a:srgbClr val="5430CE"/>
              </a:solidFill>
              <a:latin typeface="Gilroy-Blac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86AF1-F4C8-B081-E700-929B7F4294AC}"/>
              </a:ext>
            </a:extLst>
          </p:cNvPr>
          <p:cNvSpPr txBox="1"/>
          <p:nvPr/>
        </p:nvSpPr>
        <p:spPr>
          <a:xfrm>
            <a:off x="3743634" y="2183336"/>
            <a:ext cx="1872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1000" dirty="0">
                <a:latin typeface="Gilroy" panose="00000500000000000000" pitchFamily="2" charset="-52"/>
              </a:rPr>
              <a:t>taqdim etildi</a:t>
            </a:r>
            <a:r>
              <a:rPr lang="en-US" sz="1000" dirty="0">
                <a:latin typeface="Gilroy" panose="00000500000000000000" pitchFamily="2" charset="-52"/>
              </a:rPr>
              <a:t> </a:t>
            </a:r>
            <a:r>
              <a:rPr lang="uz-Cyrl-UZ" sz="1000" dirty="0">
                <a:latin typeface="Gilroy" panose="00000500000000000000" pitchFamily="2" charset="-52"/>
              </a:rPr>
              <a:t>/ is awarded to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90" y="3059113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0FBDC41-E2C0-D7A9-5C61-87B0CC08AFD2}"/>
              </a:ext>
            </a:extLst>
          </p:cNvPr>
          <p:cNvSpPr/>
          <p:nvPr/>
        </p:nvSpPr>
        <p:spPr>
          <a:xfrm>
            <a:off x="2007162" y="4944356"/>
            <a:ext cx="5345575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ADF1E1-F828-F2CC-D1CE-8E6A84BF917B}"/>
              </a:ext>
            </a:extLst>
          </p:cNvPr>
          <p:cNvSpPr txBox="1"/>
          <p:nvPr/>
        </p:nvSpPr>
        <p:spPr>
          <a:xfrm>
            <a:off x="3403799" y="4979993"/>
            <a:ext cx="2552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tamomla</a:t>
            </a:r>
            <a:r>
              <a:rPr lang="en-US" sz="900" dirty="0">
                <a:latin typeface="Gilroy" panose="00000500000000000000" pitchFamily="2" charset="-52"/>
              </a:rPr>
              <a:t>n</a:t>
            </a:r>
            <a:r>
              <a:rPr lang="uz-Cyrl-UZ" sz="900" dirty="0">
                <a:latin typeface="Gilroy" panose="00000500000000000000" pitchFamily="2" charset="-52"/>
              </a:rPr>
              <a:t>gan yo‘nalish / graduated course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81083" y="3096763"/>
            <a:ext cx="4597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bitiruvchining familiyasi, ismi, otasining ismi  / graduate’s surname, name, first 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39156-17B4-AC02-C27E-AF11699B3BDD}"/>
              </a:ext>
            </a:extLst>
          </p:cNvPr>
          <p:cNvSpPr txBox="1"/>
          <p:nvPr/>
        </p:nvSpPr>
        <p:spPr>
          <a:xfrm>
            <a:off x="403490" y="3443478"/>
            <a:ext cx="8552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Ushbu sertifikat bitiruvchiga quyidagi yo‘nalish bo‘yicha</a:t>
            </a:r>
            <a:r>
              <a:rPr lang="en-US" sz="1000" b="1" spc="100" dirty="0">
                <a:latin typeface="Gilroy" panose="00000500000000000000" pitchFamily="2" charset="-52"/>
              </a:rPr>
              <a:t> </a:t>
            </a:r>
            <a:r>
              <a:rPr lang="uz-Cyrl-UZ" sz="1000" b="1" spc="100" dirty="0">
                <a:latin typeface="Gilroy" panose="00000500000000000000" pitchFamily="2" charset="-52"/>
              </a:rPr>
              <a:t>dasturlash o‘quv kursini</a:t>
            </a:r>
          </a:p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muvaffaqiyatli tamomlagani uchun berildi </a:t>
            </a:r>
            <a:r>
              <a:rPr lang="en-US" sz="1000" b="1" spc="100" dirty="0">
                <a:latin typeface="Gilroy" panose="00000500000000000000" pitchFamily="2" charset="-52"/>
              </a:rPr>
              <a:t>/</a:t>
            </a:r>
            <a:endParaRPr lang="uz-Cyrl-UZ" sz="1000" b="1" spc="100" dirty="0">
              <a:latin typeface="Gilroy" panose="00000500000000000000" pitchFamily="2" charset="-52"/>
            </a:endParaRPr>
          </a:p>
          <a:p>
            <a:pPr algn="ctr"/>
            <a:endParaRPr lang="en-US" sz="1000" b="1" spc="100" dirty="0">
              <a:latin typeface="Gilroy" panose="00000500000000000000" pitchFamily="2" charset="-52"/>
            </a:endParaRPr>
          </a:p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This certificate is awarded to the recipient for successfully completing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the programming course in the following track</a:t>
            </a:r>
            <a:endParaRPr lang="uz-Cyrl-UZ" sz="1000" b="1" spc="100" dirty="0">
              <a:latin typeface="Gilroy" panose="00000500000000000000" pitchFamily="2" charset="-5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EB536E-D505-E3C2-0643-E227793FCEBF}"/>
              </a:ext>
            </a:extLst>
          </p:cNvPr>
          <p:cNvSpPr txBox="1"/>
          <p:nvPr/>
        </p:nvSpPr>
        <p:spPr>
          <a:xfrm>
            <a:off x="2007160" y="4421136"/>
            <a:ext cx="53455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5430CE"/>
                </a:solidFill>
                <a:latin typeface="Gilroy-Black"/>
              </a:rPr>
              <a:t>SOFTWARE ENGINEERING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9E2F2-833D-6C0D-78AD-EED19E38CA08}"/>
              </a:ext>
            </a:extLst>
          </p:cNvPr>
          <p:cNvSpPr txBox="1"/>
          <p:nvPr/>
        </p:nvSpPr>
        <p:spPr>
          <a:xfrm>
            <a:off x="403485" y="5611389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9287F-0939-CE08-06C3-671FAAFE16C6}"/>
              </a:ext>
            </a:extLst>
          </p:cNvPr>
          <p:cNvSpPr txBox="1"/>
          <p:nvPr/>
        </p:nvSpPr>
        <p:spPr>
          <a:xfrm>
            <a:off x="7473317" y="5426730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Certificate</a:t>
            </a:r>
          </a:p>
          <a:p>
            <a:r>
              <a:rPr lang="en-US" sz="800" dirty="0">
                <a:latin typeface="Gilroy" panose="00000500000000000000" pitchFamily="2" charset="-52"/>
              </a:rPr>
              <a:t>ilovasiz</a:t>
            </a:r>
            <a:r>
              <a:rPr lang="ru-RU" sz="800" dirty="0">
                <a:latin typeface="Gilroy" panose="00000500000000000000" pitchFamily="2" charset="-52"/>
              </a:rPr>
              <a:t> </a:t>
            </a:r>
            <a:r>
              <a:rPr lang="en-US" sz="800" dirty="0">
                <a:latin typeface="Gilroy" panose="00000500000000000000" pitchFamily="2" charset="-52"/>
              </a:rPr>
              <a:t>kuchga ega emas /</a:t>
            </a:r>
          </a:p>
          <a:p>
            <a:r>
              <a:rPr lang="en-US" sz="800" dirty="0">
                <a:latin typeface="Gilroy" panose="00000500000000000000" pitchFamily="2" charset="-52"/>
              </a:rPr>
              <a:t>invalid without appendix</a:t>
            </a:r>
            <a:endParaRPr lang="ru-RU" sz="800" dirty="0">
              <a:latin typeface="Gilroy" panose="000005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8F525-432F-FD7D-342E-10273B5266AE}"/>
              </a:ext>
            </a:extLst>
          </p:cNvPr>
          <p:cNvSpPr txBox="1"/>
          <p:nvPr/>
        </p:nvSpPr>
        <p:spPr>
          <a:xfrm>
            <a:off x="2154593" y="5426727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55573-F739-7B8A-E245-547E57341F86}"/>
              </a:ext>
            </a:extLst>
          </p:cNvPr>
          <p:cNvSpPr txBox="1"/>
          <p:nvPr/>
        </p:nvSpPr>
        <p:spPr>
          <a:xfrm>
            <a:off x="4041011" y="5426729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sana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date of issue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9084C-8F84-0771-2C50-F933EA301ECE}"/>
              </a:ext>
            </a:extLst>
          </p:cNvPr>
          <p:cNvSpPr txBox="1"/>
          <p:nvPr/>
        </p:nvSpPr>
        <p:spPr>
          <a:xfrm>
            <a:off x="5534344" y="5426728"/>
            <a:ext cx="1369287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Tashkent region</a:t>
            </a:r>
            <a:br>
              <a:rPr lang="uz-Cyrl-UZ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joyi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given place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22A4FDB-684E-0C0A-DE40-577BD770F89A}"/>
              </a:ext>
            </a:extLst>
          </p:cNvPr>
          <p:cNvSpPr>
            <a:spLocks noChangeAspect="1"/>
          </p:cNvSpPr>
          <p:nvPr/>
        </p:nvSpPr>
        <p:spPr>
          <a:xfrm>
            <a:off x="403485" y="4425509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C2104-F4B9-845B-8468-AB53605DDAC0}"/>
              </a:ext>
            </a:extLst>
          </p:cNvPr>
          <p:cNvSpPr txBox="1"/>
          <p:nvPr/>
        </p:nvSpPr>
        <p:spPr>
          <a:xfrm>
            <a:off x="403485" y="4197531"/>
            <a:ext cx="11858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ijro.gov.uz</a:t>
            </a:r>
            <a:endParaRPr kumimoji="0" lang="uz-Cyrl-UZ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63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EB89B89-93F9-7ECF-D5BE-5FFC310EC138}"/>
              </a:ext>
            </a:extLst>
          </p:cNvPr>
          <p:cNvGrpSpPr/>
          <p:nvPr/>
        </p:nvGrpSpPr>
        <p:grpSpPr>
          <a:xfrm>
            <a:off x="0" y="0"/>
            <a:ext cx="9359900" cy="6119814"/>
            <a:chOff x="9359900" y="0"/>
            <a:chExt cx="9359900" cy="6119814"/>
          </a:xfrm>
        </p:grpSpPr>
        <p:pic>
          <p:nvPicPr>
            <p:cNvPr id="17" name="Рисунок 16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2CEC1753-0B61-1AF8-5CFC-C35735292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 flipH="1">
              <a:off x="9359900" y="0"/>
              <a:ext cx="9359900" cy="6119813"/>
            </a:xfrm>
            <a:prstGeom prst="rect">
              <a:avLst/>
            </a:prstGeom>
          </p:spPr>
        </p:pic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FA40D93-759B-F061-BA3B-DD5132B374D8}"/>
                </a:ext>
              </a:extLst>
            </p:cNvPr>
            <p:cNvSpPr/>
            <p:nvPr/>
          </p:nvSpPr>
          <p:spPr>
            <a:xfrm>
              <a:off x="9359900" y="1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D86B770-8A9C-0E68-436F-2B7162C95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1471" b="42838"/>
            <a:stretch/>
          </p:blipFill>
          <p:spPr>
            <a:xfrm>
              <a:off x="9359900" y="1857861"/>
              <a:ext cx="8294914" cy="4261952"/>
            </a:xfrm>
            <a:prstGeom prst="rect">
              <a:avLst/>
            </a:prstGeom>
          </p:spPr>
        </p:pic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D59EFC3B-9EE5-FD0F-709F-45679C14C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1615" y="229216"/>
              <a:ext cx="1486398" cy="440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85" y="1408518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81078" y="1446168"/>
            <a:ext cx="4597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bitiruvchining familiyasi, ismi, otasining ismi  / graduate’s surname, name, first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8235D-D17D-0498-B9C1-B0D0546C6116}"/>
              </a:ext>
            </a:extLst>
          </p:cNvPr>
          <p:cNvSpPr txBox="1"/>
          <p:nvPr/>
        </p:nvSpPr>
        <p:spPr>
          <a:xfrm>
            <a:off x="400005" y="303544"/>
            <a:ext cx="1249701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E6472-1977-FE23-5ACD-A4FE297F074A}"/>
              </a:ext>
            </a:extLst>
          </p:cNvPr>
          <p:cNvSpPr txBox="1"/>
          <p:nvPr/>
        </p:nvSpPr>
        <p:spPr>
          <a:xfrm>
            <a:off x="3629822" y="301642"/>
            <a:ext cx="21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Gilroy" panose="00000500000000000000" pitchFamily="2" charset="-52"/>
              </a:rPr>
              <a:t>SERTIFIKAT ILOVASI /</a:t>
            </a:r>
          </a:p>
          <a:p>
            <a:pPr algn="ctr"/>
            <a:r>
              <a:rPr lang="en-US" sz="1400" b="1" dirty="0">
                <a:latin typeface="Gilroy" panose="00000500000000000000" pitchFamily="2" charset="-52"/>
              </a:rPr>
              <a:t>CERTIFICATE APPENDIX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6C754-1166-BC74-8309-A8DACDDA8BCF}"/>
              </a:ext>
            </a:extLst>
          </p:cNvPr>
          <p:cNvSpPr txBox="1"/>
          <p:nvPr/>
        </p:nvSpPr>
        <p:spPr>
          <a:xfrm>
            <a:off x="2468030" y="1763791"/>
            <a:ext cx="442384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ru-RU" sz="3200" b="1" dirty="0">
                <a:solidFill>
                  <a:srgbClr val="5430CE"/>
                </a:solidFill>
                <a:latin typeface="Gilroy-Black"/>
              </a:rPr>
              <a:t>« </a:t>
            </a:r>
            <a:r>
              <a:rPr lang="en-US" sz="3200" b="1" dirty="0">
                <a:solidFill>
                  <a:srgbClr val="5430CE"/>
                </a:solidFill>
                <a:latin typeface="Gilroy-Black"/>
              </a:rPr>
              <a:t>Qwasar Silicon Valley</a:t>
            </a:r>
            <a:r>
              <a:rPr lang="ru-RU" sz="3200" b="1" dirty="0">
                <a:solidFill>
                  <a:srgbClr val="5430CE"/>
                </a:solidFill>
                <a:latin typeface="Gilroy-Black"/>
              </a:rPr>
              <a:t> »</a:t>
            </a:r>
            <a:endParaRPr lang="ru-RU" sz="2800" b="1">
              <a:solidFill>
                <a:srgbClr val="5430CE"/>
              </a:solidFill>
              <a:latin typeface="Gilroy-Black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68BAB2-AF90-09F0-9D47-FBD399DD56D5}"/>
              </a:ext>
            </a:extLst>
          </p:cNvPr>
          <p:cNvSpPr txBox="1"/>
          <p:nvPr/>
        </p:nvSpPr>
        <p:spPr>
          <a:xfrm>
            <a:off x="1186045" y="2346083"/>
            <a:ext cx="6987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2600">
              <a:defRPr/>
            </a:pPr>
            <a:r>
              <a:rPr lang="uz-Cyrl-UZ" sz="900" dirty="0">
                <a:latin typeface="Gilroy" panose="00000500000000000000" pitchFamily="2" charset="-52"/>
              </a:rPr>
              <a:t>AQSh, Kaliforniya, Silikon vodiysi standartlari asosida ishlab chiqilgan dasturiy ta'minot muhandisligi maktabi o’quv platformasi / </a:t>
            </a:r>
          </a:p>
          <a:p>
            <a:pPr algn="ctr" defTabSz="452600">
              <a:defRPr/>
            </a:pPr>
            <a:r>
              <a:rPr lang="en-US" sz="900" dirty="0">
                <a:latin typeface="Gilroy" panose="00000500000000000000" pitchFamily="2" charset="-52"/>
              </a:rPr>
              <a:t>A US-based software engineering school in California, Silicon Valley, operating on standard educational platforms</a:t>
            </a:r>
            <a:endParaRPr lang="uz-Cyrl-UZ" sz="900" dirty="0">
              <a:latin typeface="Gilroy" panose="00000500000000000000" pitchFamily="2" charset="-5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F8269-DC11-D0A0-368F-8FBA19864A30}"/>
              </a:ext>
            </a:extLst>
          </p:cNvPr>
          <p:cNvSpPr txBox="1"/>
          <p:nvPr/>
        </p:nvSpPr>
        <p:spPr>
          <a:xfrm>
            <a:off x="403490" y="2775628"/>
            <a:ext cx="8552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B</a:t>
            </a:r>
            <a:r>
              <a:rPr lang="uz-Cyrl-UZ" sz="1200" b="1" spc="100" dirty="0">
                <a:latin typeface="Gilroy" panose="00000500000000000000" pitchFamily="2" charset="-52"/>
              </a:rPr>
              <a:t>itiruvchi</a:t>
            </a:r>
            <a:r>
              <a:rPr lang="en-US" sz="1200" b="1" spc="100" dirty="0">
                <a:latin typeface="Gilroy" panose="00000500000000000000" pitchFamily="2" charset="-52"/>
              </a:rPr>
              <a:t> ushbu o‘quv platformasida 13 oy davomida quyidagi bosqichlarni tamomladi /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The graduate completed the following steps during the 13 months on this learning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39B0F-9080-3E7D-D4BE-A4B62D74B870}"/>
              </a:ext>
            </a:extLst>
          </p:cNvPr>
          <p:cNvSpPr txBox="1"/>
          <p:nvPr/>
        </p:nvSpPr>
        <p:spPr>
          <a:xfrm>
            <a:off x="3109243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611D134-1346-1392-76E8-A3577A466DFB}"/>
              </a:ext>
            </a:extLst>
          </p:cNvPr>
          <p:cNvSpPr>
            <a:spLocks noChangeAspect="1"/>
          </p:cNvSpPr>
          <p:nvPr/>
        </p:nvSpPr>
        <p:spPr>
          <a:xfrm>
            <a:off x="3109243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17AE05-F4E8-8CE6-DB80-3613D3770B85}"/>
              </a:ext>
            </a:extLst>
          </p:cNvPr>
          <p:cNvSpPr txBox="1"/>
          <p:nvPr/>
        </p:nvSpPr>
        <p:spPr>
          <a:xfrm>
            <a:off x="7770525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A623EAAD-4BB8-7753-F0B9-5E44D93A6895}"/>
              </a:ext>
            </a:extLst>
          </p:cNvPr>
          <p:cNvSpPr>
            <a:spLocks noChangeAspect="1"/>
          </p:cNvSpPr>
          <p:nvPr/>
        </p:nvSpPr>
        <p:spPr>
          <a:xfrm>
            <a:off x="7770525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X</a:t>
            </a:r>
            <a:endParaRPr kumimoji="0" lang="ru-RU" sz="20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C4B635-2BB6-618A-1FBA-5995FE26C269}"/>
              </a:ext>
            </a:extLst>
          </p:cNvPr>
          <p:cNvSpPr txBox="1"/>
          <p:nvPr/>
        </p:nvSpPr>
        <p:spPr>
          <a:xfrm>
            <a:off x="403485" y="4550975"/>
            <a:ext cx="2530215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/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C</a:t>
            </a:r>
            <a: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dasturlash</a:t>
            </a:r>
            <a: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tilida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dasturlash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muhandisligi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ikkinchi bosq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ich 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asoslarini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o'z ichiga olgan</a:t>
            </a:r>
            <a:b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</a:b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50</a:t>
            </a:r>
            <a: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ta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mashqni va 10 ta </a:t>
            </a:r>
            <a: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loyiha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ni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to‘liq </a:t>
            </a:r>
            <a: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yakunla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di</a:t>
            </a:r>
            <a:endParaRPr lang="ru-RU" sz="1400" b="1" spc="20" dirty="0">
              <a:solidFill>
                <a:prstClr val="black"/>
              </a:solidFill>
              <a:latin typeface="Gilroy" panose="00000500000000000000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950178-6A0C-2C2B-2A30-EADFBB9F63E5}"/>
              </a:ext>
            </a:extLst>
          </p:cNvPr>
          <p:cNvSpPr txBox="1"/>
          <p:nvPr/>
        </p:nvSpPr>
        <p:spPr>
          <a:xfrm>
            <a:off x="5064774" y="4550975"/>
            <a:ext cx="2530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just">
              <a:defRPr sz="1400" b="1" spc="20">
                <a:solidFill>
                  <a:prstClr val="black"/>
                </a:solidFill>
                <a:latin typeface="Gilroy" panose="00000500000000000000" pitchFamily="2" charset="-52"/>
              </a:defRPr>
            </a:lvl1pPr>
          </a:lstStyle>
          <a:p>
            <a:r>
              <a:rPr lang="en-US" dirty="0"/>
              <a:t>Tamomlanmagan / </a:t>
            </a:r>
          </a:p>
          <a:p>
            <a:r>
              <a:rPr lang="en-US" dirty="0"/>
              <a:t>Not completed</a:t>
            </a:r>
          </a:p>
        </p:txBody>
      </p:sp>
      <p:graphicFrame>
        <p:nvGraphicFramePr>
          <p:cNvPr id="29" name="Таблица 28">
            <a:extLst>
              <a:ext uri="{FF2B5EF4-FFF2-40B4-BE49-F238E27FC236}">
                <a16:creationId xmlns:a16="http://schemas.microsoft.com/office/drawing/2014/main" id="{81F9266E-7CAB-D3D7-91FF-62EDA4FF5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667714"/>
              </p:ext>
            </p:extLst>
          </p:nvPr>
        </p:nvGraphicFramePr>
        <p:xfrm>
          <a:off x="403483" y="3299087"/>
          <a:ext cx="8552921" cy="11257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1448">
                  <a:extLst>
                    <a:ext uri="{9D8B030D-6E8A-4147-A177-3AD203B41FA5}">
                      <a16:colId xmlns:a16="http://schemas.microsoft.com/office/drawing/2014/main" val="809650660"/>
                    </a:ext>
                  </a:extLst>
                </a:gridCol>
                <a:gridCol w="445463">
                  <a:extLst>
                    <a:ext uri="{9D8B030D-6E8A-4147-A177-3AD203B41FA5}">
                      <a16:colId xmlns:a16="http://schemas.microsoft.com/office/drawing/2014/main" val="3163585519"/>
                    </a:ext>
                  </a:extLst>
                </a:gridCol>
                <a:gridCol w="327688">
                  <a:extLst>
                    <a:ext uri="{9D8B030D-6E8A-4147-A177-3AD203B41FA5}">
                      <a16:colId xmlns:a16="http://schemas.microsoft.com/office/drawing/2014/main" val="1775796282"/>
                    </a:ext>
                  </a:extLst>
                </a:gridCol>
                <a:gridCol w="815312">
                  <a:extLst>
                    <a:ext uri="{9D8B030D-6E8A-4147-A177-3AD203B41FA5}">
                      <a16:colId xmlns:a16="http://schemas.microsoft.com/office/drawing/2014/main" val="1007615750"/>
                    </a:ext>
                  </a:extLst>
                </a:gridCol>
                <a:gridCol w="769144">
                  <a:extLst>
                    <a:ext uri="{9D8B030D-6E8A-4147-A177-3AD203B41FA5}">
                      <a16:colId xmlns:a16="http://schemas.microsoft.com/office/drawing/2014/main" val="277786459"/>
                    </a:ext>
                  </a:extLst>
                </a:gridCol>
                <a:gridCol w="229576">
                  <a:extLst>
                    <a:ext uri="{9D8B030D-6E8A-4147-A177-3AD203B41FA5}">
                      <a16:colId xmlns:a16="http://schemas.microsoft.com/office/drawing/2014/main" val="2781305556"/>
                    </a:ext>
                  </a:extLst>
                </a:gridCol>
                <a:gridCol w="773151">
                  <a:extLst>
                    <a:ext uri="{9D8B030D-6E8A-4147-A177-3AD203B41FA5}">
                      <a16:colId xmlns:a16="http://schemas.microsoft.com/office/drawing/2014/main" val="1107795385"/>
                    </a:ext>
                  </a:extLst>
                </a:gridCol>
                <a:gridCol w="1747616">
                  <a:extLst>
                    <a:ext uri="{9D8B030D-6E8A-4147-A177-3AD203B41FA5}">
                      <a16:colId xmlns:a16="http://schemas.microsoft.com/office/drawing/2014/main" val="3516350726"/>
                    </a:ext>
                  </a:extLst>
                </a:gridCol>
                <a:gridCol w="370372">
                  <a:extLst>
                    <a:ext uri="{9D8B030D-6E8A-4147-A177-3AD203B41FA5}">
                      <a16:colId xmlns:a16="http://schemas.microsoft.com/office/drawing/2014/main" val="1058257816"/>
                    </a:ext>
                  </a:extLst>
                </a:gridCol>
                <a:gridCol w="773151">
                  <a:extLst>
                    <a:ext uri="{9D8B030D-6E8A-4147-A177-3AD203B41FA5}">
                      <a16:colId xmlns:a16="http://schemas.microsoft.com/office/drawing/2014/main" val="717832204"/>
                    </a:ext>
                  </a:extLst>
                </a:gridCol>
              </a:tblGrid>
              <a:tr h="562856">
                <a:tc>
                  <a:txBody>
                    <a:bodyPr/>
                    <a:lstStyle/>
                    <a:p>
                      <a:pPr algn="l"/>
                      <a:r>
                        <a:rPr lang="en-US" sz="14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Preseason Web</a:t>
                      </a:r>
                    </a:p>
                    <a:p>
                      <a:pPr algn="l"/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(HTML,</a:t>
                      </a:r>
                      <a:r>
                        <a:rPr lang="uz-Cyrl-UZ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CSS,</a:t>
                      </a:r>
                      <a:r>
                        <a:rPr lang="uz-Cyrl-UZ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JavaScript) (1 oy/mo.)</a:t>
                      </a:r>
                      <a:endParaRPr lang="ru-RU" sz="9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spc="100" baseline="0" noProof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01 Arc 01</a:t>
                      </a:r>
                    </a:p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spc="100" baseline="0" noProof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(C) </a:t>
                      </a:r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(2 oy/mo.)</a:t>
                      </a:r>
                      <a:endParaRPr lang="ru-RU" sz="900" b="1" kern="1200" spc="100" baseline="0" noProof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b="1" kern="1200" spc="100" baseline="0" noProof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01 Arc 02</a:t>
                      </a:r>
                    </a:p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(C) (4 oy/mo.)</a:t>
                      </a:r>
                      <a:endParaRPr kumimoji="0" lang="ru-RU" sz="900" b="1" i="0" u="none" strike="noStrike" kern="1200" cap="none" spc="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6136764"/>
                  </a:ext>
                </a:extLst>
              </a:tr>
              <a:tr h="562856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Software Engineer</a:t>
                      </a:r>
                      <a:endParaRPr kumimoji="0" lang="uz-Cyrl-UZ" sz="2000" b="1" i="0" u="none" strike="noStrike" kern="1200" cap="none" spc="100" normalizeH="0" baseline="0" noProof="0" dirty="0">
                        <a:ln>
                          <a:noFill/>
                        </a:ln>
                        <a:solidFill>
                          <a:srgbClr val="5430CE"/>
                        </a:solidFill>
                        <a:effectLst/>
                        <a:uLnTx/>
                        <a:uFillTx/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02 (C, Ruby) (6 oy/mo.)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C++ / Rust</a:t>
                      </a:r>
                      <a:endParaRPr kumimoji="0" lang="uz-Cyrl-UZ" sz="2000" b="1" i="0" u="none" strike="noStrike" kern="1200" cap="none" spc="100" normalizeH="0" baseline="0" noProof="0" dirty="0">
                        <a:ln>
                          <a:noFill/>
                        </a:ln>
                        <a:solidFill>
                          <a:srgbClr val="5430CE"/>
                        </a:solidFill>
                        <a:effectLst/>
                        <a:uLnTx/>
                        <a:uFillTx/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uz-Cyrl-UZ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ru-RU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oy/mo.) </a:t>
                      </a:r>
                      <a:r>
                        <a:rPr kumimoji="0" lang="en-US" sz="900" b="0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(ixtiyoriy</a:t>
                      </a:r>
                      <a:r>
                        <a:rPr kumimoji="0" lang="ru-RU" sz="900" b="0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sz="900" b="0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optional)</a:t>
                      </a:r>
                      <a:endParaRPr lang="ru-RU" sz="1400" b="0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Backend</a:t>
                      </a:r>
                      <a:endParaRPr kumimoji="0" lang="uz-Cyrl-UZ" sz="2000" b="1" i="0" u="none" strike="noStrike" kern="1200" cap="none" spc="100" normalizeH="0" baseline="0" noProof="0" dirty="0">
                        <a:ln>
                          <a:noFill/>
                        </a:ln>
                        <a:solidFill>
                          <a:srgbClr val="5430CE"/>
                        </a:solidFill>
                        <a:effectLst/>
                        <a:uLnTx/>
                        <a:uFillTx/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uz-Cyrl-UZ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(6 oy)</a:t>
                      </a: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100%</a:t>
                      </a: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8499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080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462</TotalTime>
  <Words>353</Words>
  <Application>Microsoft Office PowerPoint</Application>
  <PresentationFormat>Custom</PresentationFormat>
  <Paragraphs>48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Тема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Odil Azizov</dc:creator>
  <cp:lastModifiedBy>Astrum</cp:lastModifiedBy>
  <cp:revision>108</cp:revision>
  <cp:lastPrinted>2023-05-11T13:15:46Z</cp:lastPrinted>
  <dcterms:created xsi:type="dcterms:W3CDTF">2023-05-02T10:05:08Z</dcterms:created>
  <dcterms:modified xsi:type="dcterms:W3CDTF">2023-11-11T05:36:35Z</dcterms:modified>
</cp:coreProperties>
</file>